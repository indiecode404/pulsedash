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this is not a concept deck. The collection engine is built, security-audited, and already collecting from a live SQL Server monitoring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in the client's own reality. Ask them how many monitoring mails their DBAs get before 9am.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estate grid is the landing view: every server x every domain as a red/amber/green cell, then click through to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derived intelligence, not just metrics: forecasting, cost attribution, and prescriptive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separation is what makes the 'all databases' roadmap credible: the store and present layers never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modest. The whole point is that this clears procurement and security review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the security review. Offer to hand the source over for their own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here. Claude is not self-hostable. Bedrock in the client's own account is the answer for data residency. Never claim the model runs on-prem.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quote percentage improvements we have not measured. Offer to baseline during the pilot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slide earlier is what makes this roadmap believable rather than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a sponsor and an environment, not a budget. Keep the ask small enough to say yes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C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745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One-Stop Database Monitoring &amp; Reporting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console for the entire database estate — built to run wholly inside the client network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315968"/>
            <a:ext cx="155448" cy="155448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4224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50008" y="4315968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6896" y="4224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33088" y="4315968"/>
            <a:ext cx="155448" cy="155448"/>
          </a:xfrm>
          <a:prstGeom prst="ellipse">
            <a:avLst/>
          </a:prstGeom>
          <a:solidFill>
            <a:srgbClr val="E8564A"/>
          </a:solidFill>
          <a:ln w="12700">
            <a:solidFill>
              <a:srgbClr val="E856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9976" y="4224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892040"/>
            <a:ext cx="4663440" cy="566928"/>
          </a:xfrm>
          <a:prstGeom prst="roundRect">
            <a:avLst>
              <a:gd name="adj" fmla="val 14516"/>
            </a:avLst>
          </a:prstGeom>
          <a:solidFill>
            <a:srgbClr val="1632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48920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live on a SQL Server estate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client review  ·  SQL Server + Amazon Redshift  ·  Extensible to all database platforms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DBA morning starts in the inbox, not the data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7218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33856" y="13898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without 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3856" y="170078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mails from separate tools — none say what actually broke or why.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55117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3856" y="2468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root cause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3856" y="277977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Blocking, I/O and cost issues are diagnosed by hand, instance by instance.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63016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3856" y="35478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are a scramble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3856" y="38587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level, config drift and 'who has sysadmin' assembled manually each cycle.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70916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3856" y="462686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 a few heads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49377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estate's real health lives with two or three senior people.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325880"/>
            <a:ext cx="4663440" cy="4434840"/>
          </a:xfrm>
          <a:prstGeom prst="roundRect">
            <a:avLst>
              <a:gd name="adj" fmla="val 18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481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– 09:00  ·  a typical inbox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1874520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2011680"/>
            <a:ext cx="146304" cy="146304"/>
          </a:xfrm>
          <a:prstGeom prst="ellipse">
            <a:avLst/>
          </a:prstGeom>
          <a:solidFill>
            <a:srgbClr val="E8564A"/>
          </a:solidFill>
          <a:ln w="12700">
            <a:solidFill>
              <a:srgbClr val="E856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808" y="18745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failed – FinanceDB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2404872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0920" y="2542032"/>
            <a:ext cx="146304" cy="146304"/>
          </a:xfrm>
          <a:prstGeom prst="ellipse">
            <a:avLst/>
          </a:prstGeom>
          <a:solidFill>
            <a:srgbClr val="E8564A"/>
          </a:solidFill>
          <a:ln w="12700">
            <a:solidFill>
              <a:srgbClr val="E856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7808" y="24048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F: 96% full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78040" y="2935224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3072384"/>
            <a:ext cx="146304" cy="1463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2935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failed – Nightly ETL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78040" y="3465576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60920" y="3602736"/>
            <a:ext cx="146304" cy="1463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34655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lag warning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3995928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0920" y="4133088"/>
            <a:ext cx="146304" cy="146304"/>
          </a:xfrm>
          <a:prstGeom prst="ellipse">
            <a:avLst/>
          </a:prstGeom>
          <a:solidFill>
            <a:srgbClr val="E8564A"/>
          </a:solidFill>
          <a:ln w="12700">
            <a:solidFill>
              <a:srgbClr val="E856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07808" y="39959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spend spike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78040" y="4526280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60920" y="4663440"/>
            <a:ext cx="146304" cy="1463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07808" y="45262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failures x14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78040" y="5056632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60920" y="5193792"/>
            <a:ext cx="146304" cy="1463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07808" y="50566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CHECKDB overdue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mails, no single answer to: what needs me first?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console. Worst-first. Every platform.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a DBA needs, collected centrally and ranked so the first screen answers: what needs me now?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020824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7830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grid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78308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57016" y="2020824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3048" y="17830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Sync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4768" y="178308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45936" y="2020824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7830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33688" y="178308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34856" y="2020824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0888" y="17830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Integrity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569464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280720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256946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55848" y="2569464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57016" y="280720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256946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44768" y="2569464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45936" y="280720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256946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33688" y="2569464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856" y="2807208"/>
            <a:ext cx="146304" cy="146304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90888" y="256946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Forecast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3355848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3593592"/>
            <a:ext cx="146304" cy="146304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33558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55848" y="3355848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57016" y="3593592"/>
            <a:ext cx="146304" cy="146304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13048" y="33558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Anomaly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44768" y="3355848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45936" y="3593592"/>
            <a:ext cx="146304" cy="146304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3558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33688" y="3355848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34856" y="3593592"/>
            <a:ext cx="146304" cy="146304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90888" y="33558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Patch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6928" y="4142232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" y="4379976"/>
            <a:ext cx="146304" cy="146304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128" y="414223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55848" y="4142232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57016" y="4379976"/>
            <a:ext cx="146304" cy="146304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13048" y="414223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Owners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6928" y="5074920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0E1C2E"/>
          </a:solidFill>
          <a:ln w="12700">
            <a:solidFill>
              <a:srgbClr val="0E1C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5074920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operational views  ·  30 collectors  ·  one central database  ·  refreshed every 15 minutes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also consumable from Power BI or SSRS — the reporting layer is interchangeable.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tracks today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40680" cy="3611880"/>
          </a:xfrm>
          <a:prstGeom prst="roundRect">
            <a:avLst>
              <a:gd name="adj" fmla="val 227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2763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35608" y="16093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35608" y="19019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collectors per instance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233172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Groups — sync state and seconds-behind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&amp; CHECKDB — provable recoverability per DB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forecast — days-to-full and how much to add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waits, blocking, top queries, file I/O latency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TempDB, VLF counts, index and statistics health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level, configuration drift, access control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281928" y="1371600"/>
            <a:ext cx="5440680" cy="3611880"/>
          </a:xfrm>
          <a:prstGeom prst="roundRect">
            <a:avLst>
              <a:gd name="adj" fmla="val 227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1627632"/>
            <a:ext cx="457200" cy="457200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50608" y="16093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50608" y="19019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collectors per cluster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92824" y="233172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storage and WLM queue depth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load freshness — how stale is the data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/ ANALYZE debt per table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anomaly detection vs. rolling baseline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attributed to the individual query and user</a:t>
            </a:r>
            <a:endParaRPr lang="en-US" sz="122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tables — storage paid for but never read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rules engine that turns a long block into: symptom → root cause → fix now → prevent next time.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interchangeable front ends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3736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35608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23774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PowerShell reaches out to each instance and cluster on a schedule. Read-only.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33088" y="2331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80560" y="148132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737360"/>
            <a:ext cx="457200" cy="45720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database. Time-series history, inventory, and read-only reporting views.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2331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94192" y="148132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1737360"/>
            <a:ext cx="457200" cy="457200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6851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62872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68512" y="23774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console today. Power BI or SSRS read the very same views.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041648"/>
            <a:ext cx="11055096" cy="1783080"/>
          </a:xfrm>
          <a:prstGeom prst="roundRect">
            <a:avLst>
              <a:gd name="adj" fmla="val 4615"/>
            </a:avLst>
          </a:prstGeom>
          <a:solidFill>
            <a:srgbClr val="0E1C2E"/>
          </a:solidFill>
          <a:ln w="12700">
            <a:solidFill>
              <a:srgbClr val="0E1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2245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installed on the monitored servers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78408" y="4645152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agents, no schema changes, no writes. The collector connects, reads system views, and stores the results centrally — so onboarding a new server is an inventory entry, not an install.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platform means adding collectors — every existing report keeps working unchanged.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requirements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9222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08176" y="16093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Windows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08176" y="192024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or later. A single VM hosts collection, the database and the console.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81928" y="146304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179222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23176" y="16093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instance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23176" y="192024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hold the monitoring database. Express edition is sufficient to start.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761488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09067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08176" y="290779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5.1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08176" y="321868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Windows — nothing to install.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81928" y="2761488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309067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23176" y="290779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23176" y="321868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SERVER STATE and msdb read on each monitored instance.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38912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08176" y="42062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reachability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08176" y="451713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must reach the instances and clusters it monitors.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81928" y="4059936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56248" y="438912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624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23176" y="42062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ODBC driver (optional)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23176" y="451713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Amazon Redshift is in scope.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486400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0E1C2E"/>
          </a:solidFill>
          <a:ln w="12700">
            <a:solidFill>
              <a:srgbClr val="0E1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548640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required:   no agents on targets   ·   no new licences   ·   no internet access   ·   no cloud service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from a single self-contained package — roughly a 15-minute install.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C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never leaves your network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monitoring platform makes no outbound call of any kind. Verified by code audit.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476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locally, only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and all history live in the monitoring database on your server.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0248" y="178308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57400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9476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on targets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33172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collector query is a SELECT. No writes to monitored databases — ever.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73568" y="178308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057400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9476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encrypted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0" y="233172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passwords are Windows DPAPI-encrypted and unusable off that machine.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355848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630168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5204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is localhost-only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90448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reachable from other machines; hardened against CSRF and path traversal.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70248" y="3355848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3630168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5204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telemetry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26280" y="390448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analytics, no phone-home, no third party. Runs fully air-gapped.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73568" y="3355848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3630168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35204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0" y="390448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read-only account. No sysadmin required on monitored servers.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verifiable: the entire source is readable and was audited for destructive statements and outbound calls.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LAYER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Claude fits — and what it never sees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5179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1865376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was used as the engineering accelerator to build the platform itself — collectors, schema, security hardening and documentation. That is delivery speed, not a runtime dependency.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5179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the product (optional)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01968" y="1865376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copilot that explains root cause in plain English, drafts the morning summary, and turns cost data into savings actions. The platform is fully functional without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401568"/>
            <a:ext cx="3493008" cy="109728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621024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5478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High-volume, low-cost summarising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70248" y="3401568"/>
            <a:ext cx="3493008" cy="109728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362102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5478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default — balanced reasoning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73568" y="3401568"/>
            <a:ext cx="3493008" cy="109728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3621024"/>
            <a:ext cx="164592" cy="164592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5478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root-cause and cost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828032"/>
            <a:ext cx="11055096" cy="1234440"/>
          </a:xfrm>
          <a:prstGeom prst="roundRect">
            <a:avLst>
              <a:gd name="adj" fmla="val 6667"/>
            </a:avLst>
          </a:prstGeom>
          <a:solidFill>
            <a:srgbClr val="0E1C2E"/>
          </a:solidFill>
          <a:ln w="12700">
            <a:solidFill>
              <a:srgbClr val="0E1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9743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enabled: deploy via Amazon Bedrock inside your own AWS account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" y="532180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stay within your cloud boundary and region. Only aggregated metrics are sent — never table data, rows or business content — and commercial API data is not used to train models.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is a switch, not a foundation — turn it off and every monitoring capability still works.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client gets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3493008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938528" y="1481328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to run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estate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0248" y="1389888"/>
            <a:ext cx="3493008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481328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641848" y="1481328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installed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production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73568" y="1389888"/>
            <a:ext cx="3493008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481328"/>
            <a:ext cx="1051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9345168" y="1481328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leaving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218688"/>
            <a:ext cx="173736" cy="1737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0906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" y="33924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already on screen — blocking chains, I/O latency, the expensive query.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81928" y="3218688"/>
            <a:ext cx="173736" cy="1737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30906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prevented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92824" y="33924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Days-to-full forecasting turns a Sev-1 into a planned change request.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242816"/>
            <a:ext cx="173736" cy="1737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recoverability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" y="44165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RPO and last-good CHECKDB per database, continuously.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81928" y="4242816"/>
            <a:ext cx="173736" cy="1737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controlled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92824" y="44165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attributed to the individual query, user and table.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266944"/>
            <a:ext cx="173736" cy="1737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51389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on tap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7824" y="5440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level, config drift and privileged access, always current.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81928" y="5266944"/>
            <a:ext cx="173736" cy="1737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51389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person alerted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92824" y="5440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route to the application owner, not a shared mailbox.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during the pilot against the client's own incident and audit baseline.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Becoming the one-stop destination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 layer is the only thing that changes per platform. Storage, reporting and alerting are already platform-neutral.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93008" cy="2697480"/>
          </a:xfrm>
          <a:prstGeom prst="roundRect">
            <a:avLst>
              <a:gd name="adj" fmla="val 305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29968"/>
            <a:ext cx="457200" cy="457200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35608" y="2011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35608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761488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— full estate coverage</a:t>
            </a:r>
            <a:endParaRPr lang="en-US" sz="11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1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console + Power BI / SSRS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270248" y="1783080"/>
            <a:ext cx="3493008" cy="2697480"/>
          </a:xfrm>
          <a:prstGeom prst="roundRect">
            <a:avLst>
              <a:gd name="adj" fmla="val 305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202996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38928" y="2011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38928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62856" y="2761488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&amp; Managed Instance</a:t>
            </a:r>
            <a:endParaRPr lang="en-US" sz="11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and MySQL</a:t>
            </a:r>
            <a:endParaRPr lang="en-US" sz="11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7973568" y="1783080"/>
            <a:ext cx="3493008" cy="2697480"/>
          </a:xfrm>
          <a:prstGeom prst="roundRect">
            <a:avLst>
              <a:gd name="adj" fmla="val 305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2029968"/>
            <a:ext cx="457200" cy="457200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788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42248" y="2011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842248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destination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66176" y="2761488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console for every platform</a:t>
            </a:r>
            <a:endParaRPr lang="en-US" sz="11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alerting and app-owner routing</a:t>
            </a:r>
            <a:endParaRPr lang="en-US" sz="11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and audit reporting pack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566928" y="4892040"/>
            <a:ext cx="11055096" cy="731520"/>
          </a:xfrm>
          <a:prstGeom prst="roundRect">
            <a:avLst>
              <a:gd name="adj" fmla="val 11250"/>
            </a:avLst>
          </a:prstGeom>
          <a:solidFill>
            <a:srgbClr val="0E1C2E"/>
          </a:solidFill>
          <a:ln w="12700">
            <a:solidFill>
              <a:srgbClr val="0E1C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89204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inventory  ·  one alerting model  ·  one console  —  regardless of the database engine underneath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is additive — existing dashboards and reports continue to work untouched.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C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four-week pilot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environment. Measurable outcome. No procurement required.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6858000" cy="777240"/>
          </a:xfrm>
          <a:prstGeom prst="roundRect">
            <a:avLst>
              <a:gd name="adj" fmla="val 9412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00253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8653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87168" y="181051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server, connect the first instances, first collections land.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743200"/>
            <a:ext cx="6858000" cy="777240"/>
          </a:xfrm>
          <a:prstGeom prst="roundRect">
            <a:avLst>
              <a:gd name="adj" fmla="val 9412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93522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7980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87168" y="2743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estate onboarded; dashboard and alert routing in use by the DBA team.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675888"/>
            <a:ext cx="6858000" cy="777240"/>
          </a:xfrm>
          <a:prstGeom prst="roundRect">
            <a:avLst>
              <a:gd name="adj" fmla="val 9412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86791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87168" y="36758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cost and audit reporting reviewed with stakeholders.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08576"/>
            <a:ext cx="6858000" cy="777240"/>
          </a:xfrm>
          <a:prstGeom prst="roundRect">
            <a:avLst>
              <a:gd name="adj" fmla="val 9412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8006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4663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87168" y="460857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against baseline; agree rollout and platform priorities.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18120" y="1810512"/>
            <a:ext cx="3803904" cy="3557016"/>
          </a:xfrm>
          <a:prstGeom prst="roundRect">
            <a:avLst>
              <a:gd name="adj" fmla="val 2571"/>
            </a:avLst>
          </a:prstGeom>
          <a:solidFill>
            <a:srgbClr val="16324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20116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092440" y="25146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Windows Server VM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Server instance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targets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DBA sponsor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92440" y="431596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D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measured reduction in triage time and a clean audit pack, agreed up front.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inside your network — the pilot can run fully disconnected from the internet.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One-Stop Database Monitoring &amp; Reporting</dc:title>
  <dc:subject>PptxGenJS Presentation</dc:subject>
  <dc:creator>DBA Estate Monitoring</dc:creator>
  <cp:lastModifiedBy>DBA Estate Monitoring</cp:lastModifiedBy>
  <cp:revision>1</cp:revision>
  <dcterms:created xsi:type="dcterms:W3CDTF">2026-07-21T19:31:44Z</dcterms:created>
  <dcterms:modified xsi:type="dcterms:W3CDTF">2026-07-21T19:31:44Z</dcterms:modified>
</cp:coreProperties>
</file>