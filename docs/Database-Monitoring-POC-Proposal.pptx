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immediately: this is a request for permission, not a demo. We are asking for three specific things, all low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client which of these five they feel most. That answer sets the pilot's success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line is the 'one-stop destination' promise, and the architecture slide proves it is achievable rather than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top to bottom. Two points to land: nothing is installed on monitored servers, and the dashed boundary means no data leaves.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nothing exotic. This is why it clears architecture review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POC scope tight and visibly achievable. Everything else is on the next slide as the product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'is this just a dashboard?' — no, it is a platform with a real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a code review as part of the POC exit criteria. It converts security from a blocker into a checkbox.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the two asks clearly. Approving a development tool is a much smaller decision than approving AI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defend these numbers. Say: here is the model, give us your rates and instance count and we will rebuild it with your figures. The licence-avoidance line is usually the least contestable.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week-6 go/no-go is what makes this safe to approve. They can stop before any production exposure.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smallness of the ask versus the size of the return. Ask for a named sponsor and a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C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7830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Database Monitoring &amp; Reporting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D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to build a working prototype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console for the entire database estate — designed to run wholly inside the client network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4498848"/>
            <a:ext cx="155448" cy="155448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build a POC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33088" y="4498848"/>
            <a:ext cx="155448" cy="155448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access for delivery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99248" y="4498848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non-production environment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4096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built yet. This deck requests approval, access and an environment to prove the concept.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the estate is monitored in pieces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53896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3807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167335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covers one slice. Nobody can answer 'is the estate healthy?' in one place.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386584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3134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repetitive checks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disk, jobs and AG state are verified by hand, server by server, every morning.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31927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246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predictive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97280" y="35387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problems are discovered when something fills, not weeks ahead.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25196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1788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effort is duplicated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97280" y="447141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level, configuration and privileged access are re-gathered by hand each cycle.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184648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184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1114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spend is unattributed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97280" y="540410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cost is visible as a bill, not traced to the query or table that caused 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0" y="137160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5727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the gap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178040" y="2139696"/>
            <a:ext cx="137160" cy="137160"/>
          </a:xfrm>
          <a:prstGeom prst="ellipse">
            <a:avLst/>
          </a:prstGeom>
          <a:solidFill>
            <a:srgbClr val="E8564A"/>
          </a:solidFill>
          <a:ln w="12700">
            <a:solidFill>
              <a:srgbClr val="E856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2039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found late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52360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forecast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78040" y="2798064"/>
            <a:ext cx="137160" cy="137160"/>
          </a:xfrm>
          <a:prstGeom prst="ellipse">
            <a:avLst/>
          </a:prstGeom>
          <a:solidFill>
            <a:srgbClr val="E8564A"/>
          </a:solidFill>
          <a:ln w="12700">
            <a:solidFill>
              <a:srgbClr val="E856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hours on checks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52360" y="2953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projects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78040" y="3456432"/>
            <a:ext cx="137160" cy="137160"/>
          </a:xfrm>
          <a:prstGeom prst="ellipse">
            <a:avLst/>
          </a:prstGeom>
          <a:solidFill>
            <a:srgbClr val="E8564A"/>
          </a:solidFill>
          <a:ln w="12700">
            <a:solidFill>
              <a:srgbClr val="E856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355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done twice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452360" y="3611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each time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78040" y="4114800"/>
            <a:ext cx="137160" cy="137160"/>
          </a:xfrm>
          <a:prstGeom prst="ellipse">
            <a:avLst/>
          </a:prstGeom>
          <a:solidFill>
            <a:srgbClr val="E8564A"/>
          </a:solidFill>
          <a:ln w="12700">
            <a:solidFill>
              <a:srgbClr val="E856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4014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waste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452360" y="4270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until billed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178040" y="4773168"/>
            <a:ext cx="137160" cy="137160"/>
          </a:xfrm>
          <a:prstGeom prst="ellipse">
            <a:avLst/>
          </a:prstGeom>
          <a:solidFill>
            <a:srgbClr val="E8564A"/>
          </a:solidFill>
          <a:ln w="12700">
            <a:solidFill>
              <a:srgbClr val="E856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4672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concentrated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452360" y="4928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few people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needs new hardware or licences to fix — it needs one place that collects and ranks everything.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one console for the whole estate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monitoring database plus a single dashboard that ranks the estate worst-first, so the first screen answers: what needs me now?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6712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08176" y="19659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everything, once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08176" y="2276856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collectors reach every instance on a schedule. Nothing installed on monitored servers.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81928" y="178308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216712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23176" y="19659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 centrally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23176" y="2276856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holds inventory plus time-series history — the basis for forecasting and trending.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20040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58444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08176" y="33832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present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08176" y="3694176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sorted by severity, with drill-through per server, plus alerts routed to the application owner.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81928" y="320040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56248" y="358444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23176" y="33832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inside the network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23176" y="3694176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service, no telemetry, no outbound calls. Designed to run air-gapped.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754880"/>
            <a:ext cx="11055096" cy="914400"/>
          </a:xfrm>
          <a:prstGeom prst="roundRect">
            <a:avLst>
              <a:gd name="adj" fmla="val 8000"/>
            </a:avLst>
          </a:prstGeom>
          <a:solidFill>
            <a:srgbClr val="0E1C2E"/>
          </a:solidFill>
          <a:ln w="12700">
            <a:solidFill>
              <a:srgbClr val="0E1C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754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covers SQL Server and Amazon Redshift — the architecture is built so any other engine is added as collectors only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reporting layer — dashboard, Power BI, SSRS — reads the same views, so adding a platform changes nothing downstream.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fits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207008"/>
            <a:ext cx="11201400" cy="4919472"/>
          </a:xfrm>
          <a:prstGeom prst="roundRect">
            <a:avLst>
              <a:gd name="adj" fmla="val 185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76656" y="12618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NETWORK   ·   no outbound traffic   ·   no data leaves this boundary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8096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ESTATE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8096" y="1810512"/>
            <a:ext cx="2542032" cy="658368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066544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81051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+ standalone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810512"/>
            <a:ext cx="2542032" cy="658368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2066544"/>
            <a:ext cx="137160" cy="137160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181051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81344" y="1810512"/>
            <a:ext cx="2542032" cy="658368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45936" y="2066544"/>
            <a:ext cx="137160" cy="137160"/>
          </a:xfrm>
          <a:prstGeom prst="ellipse">
            <a:avLst/>
          </a:prstGeom>
          <a:solidFill>
            <a:srgbClr val="5A6B7D"/>
          </a:solidFill>
          <a:ln w="12700">
            <a:solidFill>
              <a:srgbClr val="5A6B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1051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Oracle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phases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87968" y="1810512"/>
            <a:ext cx="2542032" cy="658368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2066544"/>
            <a:ext cx="137160" cy="137160"/>
          </a:xfrm>
          <a:prstGeom prst="ellipse">
            <a:avLst/>
          </a:prstGeom>
          <a:solidFill>
            <a:srgbClr val="5A6B7D"/>
          </a:solidFill>
          <a:ln w="12700">
            <a:solidFill>
              <a:srgbClr val="5A6B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0304" y="181051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/ MI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phases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06440" y="2542032"/>
            <a:ext cx="274320" cy="329184"/>
          </a:xfrm>
          <a:prstGeom prst="downArrow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pull  ·  no agent installed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8096" y="2944368"/>
            <a:ext cx="10744200" cy="786384"/>
          </a:xfrm>
          <a:prstGeom prst="roundRect">
            <a:avLst>
              <a:gd name="adj" fmla="val 9302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3017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9264" y="32461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collectors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9264" y="346557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 min via SQL Agent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9704" y="32461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fan-out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9704" y="346557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registered server list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10144" y="32461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10144" y="346557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system views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06440" y="3803904"/>
            <a:ext cx="274320" cy="292608"/>
          </a:xfrm>
          <a:prstGeom prst="downArrow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load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8096" y="4169664"/>
            <a:ext cx="10744200" cy="841248"/>
          </a:xfrm>
          <a:prstGeom prst="roundRect">
            <a:avLst>
              <a:gd name="adj" fmla="val 8696"/>
            </a:avLst>
          </a:prstGeom>
          <a:solidFill>
            <a:srgbClr val="0E1C2E"/>
          </a:solidFill>
          <a:ln w="12700">
            <a:solidFill>
              <a:srgbClr val="0E1C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4242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D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REPOSITORY   ·   one SQL Server database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9264" y="4498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mon.*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929384" y="45262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snapshots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89704" y="4498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cfg.*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9824" y="45262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owners, thresholds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10144" y="4498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rpt.*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70264" y="45262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reporting views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06440" y="5084064"/>
            <a:ext cx="274320" cy="292608"/>
          </a:xfrm>
          <a:prstGeom prst="downArrow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5102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rpt.* only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8096" y="51389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68096" y="5394960"/>
            <a:ext cx="2542032" cy="603504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2688" y="5632704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70432" y="54498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console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70432" y="5669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74720" y="5394960"/>
            <a:ext cx="2542032" cy="603504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39312" y="5632704"/>
            <a:ext cx="137160" cy="137160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77056" y="54498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877056" y="5669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views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81344" y="5394960"/>
            <a:ext cx="2542032" cy="603504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45936" y="5632704"/>
            <a:ext cx="137160" cy="137160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54498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SSRS / email alerts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583680" y="5669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887968" y="5394960"/>
            <a:ext cx="2542032" cy="603504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9052560" y="5632704"/>
            <a:ext cx="137160" cy="1371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90304" y="54498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9290304" y="5669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copilot is just another consumer of the same views — remove it and every monitoring capability still works.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conventional — everything below is already licensed and supported in a Microsoft data estate.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3493008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847088"/>
            <a:ext cx="155448" cy="1554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103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04672" y="22768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or later, single VM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804672" y="2468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04672" y="26426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or higher — the repository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804672" y="28346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Agent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04672" y="30083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collection schedule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270248" y="1627632"/>
            <a:ext cx="3493008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7992" y="1847088"/>
            <a:ext cx="155448" cy="155448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07992" y="2103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5.1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507992" y="22768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Windows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507992" y="2468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507992" y="26426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queries, read-only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507992" y="28346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Management Server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507992" y="30083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inventory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507992" y="32004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ODBC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07992" y="33741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 driver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973568" y="1627632"/>
            <a:ext cx="3493008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1847088"/>
            <a:ext cx="155448" cy="1554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7344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11312" y="2103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 / JavaScript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8211312" y="22768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third-party libraries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8211312" y="2468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SVG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211312" y="26426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without a chart library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8211312" y="28346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HttpListener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8211312" y="30083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IIS required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8211312" y="32004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SSRS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8211312" y="33741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same views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66928" y="3840480"/>
            <a:ext cx="3493008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4059936"/>
            <a:ext cx="155448" cy="155448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0704" y="3968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04672" y="43159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authentication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804672" y="448970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integrated, least privilege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804672" y="46817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DPAPI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804672" y="4855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encryption at rest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804672" y="50474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binding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804672" y="522122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not network-exposed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4270248" y="3840480"/>
            <a:ext cx="3493008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07992" y="4059936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64024" y="3968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4507992" y="43159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4507992" y="448970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</a:t>
            </a:r>
            <a:endParaRPr lang="en-US" sz="930" dirty="0"/>
          </a:p>
        </p:txBody>
      </p:sp>
      <p:sp>
        <p:nvSpPr>
          <p:cNvPr id="50" name="Text 48"/>
          <p:cNvSpPr/>
          <p:nvPr/>
        </p:nvSpPr>
        <p:spPr>
          <a:xfrm>
            <a:off x="4507992" y="46817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80" dirty="0"/>
          </a:p>
        </p:txBody>
      </p:sp>
      <p:sp>
        <p:nvSpPr>
          <p:cNvPr id="51" name="Text 49"/>
          <p:cNvSpPr/>
          <p:nvPr/>
        </p:nvSpPr>
        <p:spPr>
          <a:xfrm>
            <a:off x="4507992" y="4855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accelerator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7973568" y="3840480"/>
            <a:ext cx="3493008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11312" y="4059936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67344" y="3968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8211312" y="43159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via Amazon Bedrock</a:t>
            </a:r>
            <a:endParaRPr lang="en-US" sz="1080" dirty="0"/>
          </a:p>
        </p:txBody>
      </p:sp>
      <p:sp>
        <p:nvSpPr>
          <p:cNvPr id="56" name="Text 54"/>
          <p:cNvSpPr/>
          <p:nvPr/>
        </p:nvSpPr>
        <p:spPr>
          <a:xfrm>
            <a:off x="8211312" y="448970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client's own AWS account</a:t>
            </a:r>
            <a:endParaRPr lang="en-US" sz="930" dirty="0"/>
          </a:p>
        </p:txBody>
      </p:sp>
      <p:sp>
        <p:nvSpPr>
          <p:cNvPr id="57" name="Text 55"/>
          <p:cNvSpPr/>
          <p:nvPr/>
        </p:nvSpPr>
        <p:spPr>
          <a:xfrm>
            <a:off x="8211312" y="46817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summaries only</a:t>
            </a:r>
            <a:endParaRPr lang="en-US" sz="1080" dirty="0"/>
          </a:p>
        </p:txBody>
      </p:sp>
      <p:sp>
        <p:nvSpPr>
          <p:cNvPr id="58" name="Text 56"/>
          <p:cNvSpPr/>
          <p:nvPr/>
        </p:nvSpPr>
        <p:spPr>
          <a:xfrm>
            <a:off x="8211312" y="4855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table data</a:t>
            </a:r>
            <a:endParaRPr lang="en-US" sz="930" dirty="0"/>
          </a:p>
        </p:txBody>
      </p:sp>
      <p:sp>
        <p:nvSpPr>
          <p:cNvPr id="59" name="Text 57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licences, no agents, no internet dependency. The optional AI layer is the only component that is not already in-house.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prototype will deliver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73736" cy="173736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3350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estate grid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" y="162763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instance, with a red/amber/green status per domain on one screen.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81928" y="1463040"/>
            <a:ext cx="173736" cy="173736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2824" y="13350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 health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92824" y="162763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Full/log RPO per database plus last successful integrity check.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578608"/>
            <a:ext cx="173736" cy="173736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4505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forecasting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" y="27432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Least-squares projection of days-to-full and the volume to add.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81928" y="2578608"/>
            <a:ext cx="173736" cy="173736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2824" y="24505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Groups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92824" y="27432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state and seconds-behind per replica.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694176"/>
            <a:ext cx="173736" cy="173736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566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signals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" y="385876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Blocking, waits, top queries by cost, file I/O latency.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81928" y="3694176"/>
            <a:ext cx="173736" cy="173736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2824" y="3566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job failures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92824" y="385876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steps in the last 24 hours with the error text.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809744"/>
            <a:ext cx="173736" cy="173736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6817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owners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" y="497433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call, and alert routing to that owner.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81928" y="4809744"/>
            <a:ext cx="173736" cy="173736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6817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essentials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497433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load freshness, VACUUM/ANALYZE debt and cost anomalies.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650992"/>
            <a:ext cx="11055096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565099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working console on a non-production estate, plus the deployment package and documentation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what proves value fastest — the deeper capability set follows once the approach is accepted.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SCOPE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 beyond the prototype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55064"/>
            <a:ext cx="155448" cy="1554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5636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recovery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failover history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/ log shipping / CDC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&amp; endpoint expiry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Restore-test verification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0248" y="141732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7992" y="1655064"/>
            <a:ext cx="155448" cy="155448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4024" y="15636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depth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1965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graph capture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Store integration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&amp; statistics advisor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Wait-stat deltas and trending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duration trending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73568" y="141732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1655064"/>
            <a:ext cx="155448" cy="1554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7344" y="15636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cost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1965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Per-application chargeback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Growth-based budget forecasting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cost per query and table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/ stale resource reclaim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79476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032504"/>
            <a:ext cx="155448" cy="155448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3941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Privileged-access review pack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users and logins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baseline drift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Patch-currency reporting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export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0248" y="379476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7992" y="4032504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3941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reach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4343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/ SSO authentication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and Slack alerting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digest email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PDF &amp; SLA pack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view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73568" y="379476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11312" y="4032504"/>
            <a:ext cx="155448" cy="155448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67344" y="3941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expansion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4343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&amp; Managed Instance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and MySQL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(assessment)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by client priority after the prototype — each item reuses the same collection and reporting foundation.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C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so nothing leaves your network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design commitments for the build — each one is verifiable in the delivered source code.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019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locally only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and all history live in the monitoring database on your server.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270248" y="173736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011680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9019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on targets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28600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 issue SELECT statements only. No writes to monitored databases.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973568" y="173736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011680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9019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agents installed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28600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deployed to production servers — onboarding is an inventory entry.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66928" y="3310128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584448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4747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encrypted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85876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passwords are DPAPI-encrypted and unusable on any other machine.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270248" y="3310128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3584448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4747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outbound calls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385876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telemetry, no phone-home, no third-party service. Runs air-gapped.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973568" y="3310128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3584448"/>
            <a:ext cx="164592" cy="164592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34747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385876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read-only account. No sysadmin required on monitored servers.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66928" y="4956048"/>
            <a:ext cx="11055096" cy="777240"/>
          </a:xfrm>
          <a:prstGeom prst="roundRect">
            <a:avLst>
              <a:gd name="adj" fmla="val 9412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956048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is delivered to you and can be independently reviewed before it touches production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can happen on the prototype, before any production instance is connected.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Claude fits, and the access we are requesting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81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To BUILD it  —  the access we need 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1810512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 an engineering accelerator: writing collectors, schema, the dashboard, security hardening and documentation. This is a development tool — it never touches production data.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481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Inside the PRODUCT  —  optional, later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810512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copilot that explains root cause in plain English and drafts the morning summary. Entirely optional — the platform is fully functional without it, and it is out of scope for the prototype.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182112"/>
            <a:ext cx="3493008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3401568"/>
            <a:ext cx="155448" cy="155448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310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API access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build team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70248" y="3182112"/>
            <a:ext cx="3493008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7992" y="3401568"/>
            <a:ext cx="155448" cy="155448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3310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data used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07992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only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73568" y="3182112"/>
            <a:ext cx="3493008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11312" y="3401568"/>
            <a:ext cx="155448" cy="1554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3310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option available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11312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copilot is later approved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389120"/>
            <a:ext cx="11055096" cy="1371600"/>
          </a:xfrm>
          <a:prstGeom prst="roundRect">
            <a:avLst>
              <a:gd name="adj" fmla="val 5333"/>
            </a:avLst>
          </a:prstGeom>
          <a:solidFill>
            <a:srgbClr val="0E1C2E"/>
          </a:solidFill>
          <a:ln w="12700">
            <a:solidFill>
              <a:srgbClr val="0E1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5262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distinction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0976" y="48188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not self-hostable. For the build it is used as a developer tool, so no client data is involved. If the in-product copilot is approved later, it would be deployed via Amazon Bedrock inside your own AWS account — requests stay in your cloud boundary, only aggregated metrics are sent, and commercial API data is not used to train models.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Claude access for the build does not commit you to any AI feature in the product.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Indicative annual value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model for a 50-instance estate. Every figure is an assumption — replace with your own rates and the arithmetic holds.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55096" cy="384048"/>
          </a:xfrm>
          <a:prstGeom prst="roundRect">
            <a:avLst>
              <a:gd name="adj" fmla="val 19048"/>
            </a:avLst>
          </a:prstGeom>
          <a:solidFill>
            <a:srgbClr val="0E1C2E"/>
          </a:solidFill>
          <a:ln w="12700">
            <a:solidFill>
              <a:srgbClr val="0E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002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driver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138928" y="1600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used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259568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984248"/>
            <a:ext cx="11055096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84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tool licences avoided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38928" y="19842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instances x $1,200 per instance / year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59568" y="19842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$60,000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487168"/>
            <a:ext cx="1105509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487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hours returned to project work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38928" y="24871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hours saved x $40 blended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59568" y="2487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2990088"/>
            <a:ext cx="11055096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9900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avoided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38928" y="29900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incidents x 4 hours x $5,000 per hour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59568" y="29900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$40,000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493008"/>
            <a:ext cx="1105509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493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spend optimised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38928" y="34930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a $200,000 annual cluster spend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59568" y="34930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$24,000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3995928"/>
            <a:ext cx="11055096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DC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3995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 preparation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38928" y="3995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cycles x 5 days x $400 per day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59568" y="39959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4526280"/>
            <a:ext cx="11055096" cy="502920"/>
          </a:xfrm>
          <a:prstGeom prst="roundRect">
            <a:avLst>
              <a:gd name="adj" fmla="val 14545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526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gross annual value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10928" y="4526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1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$162,000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6928" y="5138928"/>
            <a:ext cx="3493008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52303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670048" y="52303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" y="547725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 part-time for 6-8 weeks, plus Claude access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270248" y="5138928"/>
            <a:ext cx="3493008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07992" y="52303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373368" y="52303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months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07992" y="547725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inside the first quarter of operation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7973568" y="5138928"/>
            <a:ext cx="3493008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11312" y="52303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cost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076688" y="52303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11312" y="547725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licences; runs on an existing VM and SQL instance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illustrative, not a commitment. The pilot will baseline the client's real numbers before any business case is signed off.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approval to rollout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493008" cy="3703320"/>
          </a:xfrm>
          <a:prstGeom prst="roundRect">
            <a:avLst>
              <a:gd name="adj" fmla="val 209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19072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35608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35608" y="19385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build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4231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 and schema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 for SQL Server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estate grid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a non-production estate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270248" y="1463040"/>
            <a:ext cx="3493008" cy="3703320"/>
          </a:xfrm>
          <a:prstGeom prst="roundRect">
            <a:avLst>
              <a:gd name="adj" fmla="val 209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4568" y="1719072"/>
            <a:ext cx="457200" cy="457200"/>
          </a:xfrm>
          <a:prstGeom prst="ellipse">
            <a:avLst/>
          </a:prstGeom>
          <a:solidFill>
            <a:srgbClr val="4DA3C7"/>
          </a:solidFill>
          <a:ln w="12700">
            <a:solidFill>
              <a:srgbClr val="4DA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38928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38928" y="19385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and harden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44568" y="24231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collection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and owner routing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of the source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install package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973568" y="1463040"/>
            <a:ext cx="3493008" cy="3703320"/>
          </a:xfrm>
          <a:prstGeom prst="roundRect">
            <a:avLst>
              <a:gd name="adj" fmla="val 209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1719072"/>
            <a:ext cx="457200" cy="457200"/>
          </a:xfrm>
          <a:prstGeom prst="ellipse">
            <a:avLst/>
          </a:prstGeom>
          <a:solidFill>
            <a:srgbClr val="21D07A"/>
          </a:solidFill>
          <a:ln w="12700">
            <a:solidFill>
              <a:srgbClr val="21D0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42248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42248" y="19385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and measure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47888" y="24231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a wider estate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the real numbers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production rollout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the next capabilities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566928" y="5376672"/>
            <a:ext cx="11055096" cy="713232"/>
          </a:xfrm>
          <a:prstGeom prst="roundRect">
            <a:avLst>
              <a:gd name="adj" fmla="val 10256"/>
            </a:avLst>
          </a:prstGeom>
          <a:solidFill>
            <a:srgbClr val="0E1C2E"/>
          </a:solidFill>
          <a:ln w="12700">
            <a:solidFill>
              <a:srgbClr val="0E1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5376672"/>
            <a:ext cx="11055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weeks from approval to a measured, reviewable result — with a go / no-go decision at week 6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alongside business as usual — no dedicated team required.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C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D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approvals to begin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6858000" cy="1024128"/>
          </a:xfrm>
          <a:prstGeom prst="roundRect">
            <a:avLst>
              <a:gd name="adj" fmla="val 8036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02536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02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35608" y="183794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access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35608" y="216712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build team, as a development tool. No client or production data is used.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66928" y="2898648"/>
            <a:ext cx="6858000" cy="1024128"/>
          </a:xfrm>
          <a:prstGeom prst="roundRect">
            <a:avLst>
              <a:gd name="adj" fmla="val 8036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209544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35608" y="304495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non-production environment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35608" y="337413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Windows VM and a SQL Server instance — existing capacity is fine.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66928" y="4105656"/>
            <a:ext cx="6858000" cy="1024128"/>
          </a:xfrm>
          <a:prstGeom prst="roundRect">
            <a:avLst>
              <a:gd name="adj" fmla="val 8036"/>
            </a:avLst>
          </a:prstGeom>
          <a:solidFill>
            <a:srgbClr val="16324F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4416552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416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35608" y="42519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a test estate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35608" y="458114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collectors can be proven against real instances, safely.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818120" y="1691640"/>
            <a:ext cx="3803904" cy="3621024"/>
          </a:xfrm>
          <a:prstGeom prst="roundRect">
            <a:avLst>
              <a:gd name="adj" fmla="val 2525"/>
            </a:avLst>
          </a:prstGeom>
          <a:solidFill>
            <a:srgbClr val="16324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19019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 back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92440" y="2395728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30" dirty="0">
                <a:solidFill>
                  <a:srgbClr val="D6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console on your estate</a:t>
            </a:r>
            <a:endParaRPr lang="en-US" sz="12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30" dirty="0">
                <a:solidFill>
                  <a:srgbClr val="D6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source code to review</a:t>
            </a:r>
            <a:endParaRPr lang="en-US" sz="12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30" dirty="0">
                <a:solidFill>
                  <a:srgbClr val="D6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install package and runbook</a:t>
            </a:r>
            <a:endParaRPr lang="en-US" sz="12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30" dirty="0">
                <a:solidFill>
                  <a:srgbClr val="D6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case built on your numbers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809244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D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licences to buy. No production change. Stoppable at week 6.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stays inside your network — the prototype can be built and run fully disconnected from the internet.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Proposal: Unified Database Monitoring Platform</dc:title>
  <dc:subject>PptxGenJS Presentation</dc:subject>
  <dc:creator>PptxGenJS</dc:creator>
  <cp:lastModifiedBy>PptxGenJS</cp:lastModifiedBy>
  <cp:revision>1</cp:revision>
  <dcterms:created xsi:type="dcterms:W3CDTF">2026-07-21T20:45:02Z</dcterms:created>
  <dcterms:modified xsi:type="dcterms:W3CDTF">2026-07-21T20:45:02Z</dcterms:modified>
</cp:coreProperties>
</file>